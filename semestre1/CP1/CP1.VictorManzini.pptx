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17"/>
    <p:restoredTop sz="94698"/>
  </p:normalViewPr>
  <p:slideViewPr>
    <p:cSldViewPr snapToGrid="0">
      <p:cViewPr>
        <p:scale>
          <a:sx n="95" d="100"/>
          <a:sy n="95" d="100"/>
        </p:scale>
        <p:origin x="584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85850-4CAA-446A-110B-F32A016040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977ECC-9814-D223-B9CF-1B4C2FA8DC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1257B-C7EF-D075-1CAE-C1FB27DB7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8D006-C777-B44B-8342-C94B0BCA22FC}" type="datetimeFigureOut">
              <a:rPr lang="en-BR" smtClean="0"/>
              <a:t>05/04/26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8876B-01EE-0303-7ED7-F7F812462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08F060-C3FF-70D8-47A5-E18C42926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1A84-6FDC-6441-968C-BEB6C8CDE4F6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641798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3F41E-2161-09AF-3D5C-4023A5760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D50DD-F733-1B27-F042-F32A14239C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59847C-5449-15E9-4394-E63F257A1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8D006-C777-B44B-8342-C94B0BCA22FC}" type="datetimeFigureOut">
              <a:rPr lang="en-BR" smtClean="0"/>
              <a:t>05/04/26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02F08-D856-0805-B0E6-4B659B5C0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BB555-2B5D-7CC8-BA47-FC9F6B95C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1A84-6FDC-6441-968C-BEB6C8CDE4F6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474369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15B4D-99BA-90F5-B23B-7335D774C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B20230-25CC-0B4B-EA51-2B3953613C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43AFC7-B92E-C765-AA47-511F50355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8D006-C777-B44B-8342-C94B0BCA22FC}" type="datetimeFigureOut">
              <a:rPr lang="en-BR" smtClean="0"/>
              <a:t>05/04/26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0AB450-0C0D-BE99-18A8-B2B2B3FB4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ED87D-9867-59CD-D3E3-A4A63B2A4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1A84-6FDC-6441-968C-BEB6C8CDE4F6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663818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C51C3-563F-A53A-A303-6912C2FEF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BFE10-E9BD-9CDB-AB5C-B3B3CC73D4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31EC62-DA54-078F-0825-17165171F4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37EA89-413E-3E92-D3E0-27612919D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8D006-C777-B44B-8342-C94B0BCA22FC}" type="datetimeFigureOut">
              <a:rPr lang="en-BR" smtClean="0"/>
              <a:t>05/04/26</a:t>
            </a:fld>
            <a:endParaRPr lang="en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CE8A44-D272-0F43-2B9D-7E76A8261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022B80-7577-8B56-70AD-86CA77C2A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1A84-6FDC-6441-968C-BEB6C8CDE4F6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392193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7877B-6A78-D74A-68AB-36094E64C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DAFE9F-F85E-0902-097F-460EFD3915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E39910-2C6A-2418-854C-C9D06CA182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808954-D316-C30C-150F-E0E859FF08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002979-3197-1C4C-BF8E-7321795D0B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65F2E4-E736-11EA-E0C1-1B28AE800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8D006-C777-B44B-8342-C94B0BCA22FC}" type="datetimeFigureOut">
              <a:rPr lang="en-BR" smtClean="0"/>
              <a:t>05/04/26</a:t>
            </a:fld>
            <a:endParaRPr lang="en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CFED89-82AA-801F-43ED-A3C350526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DD20F9-C522-509B-94DB-E53AF2CF7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1A84-6FDC-6441-968C-BEB6C8CDE4F6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111056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2A929-FA1B-F4AA-0A2E-3B4D46056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972063-448D-6DC8-CF99-0915A1A23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8D006-C777-B44B-8342-C94B0BCA22FC}" type="datetimeFigureOut">
              <a:rPr lang="en-BR" smtClean="0"/>
              <a:t>05/04/26</a:t>
            </a:fld>
            <a:endParaRPr lang="en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E69A2A-D88A-C153-41FA-E90CB3112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4B0C8B-3D96-15CE-CDBD-DAFE58195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1A84-6FDC-6441-968C-BEB6C8CDE4F6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776630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C72911-9938-A813-349F-636A47CAD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8D006-C777-B44B-8342-C94B0BCA22FC}" type="datetimeFigureOut">
              <a:rPr lang="en-BR" smtClean="0"/>
              <a:t>05/04/26</a:t>
            </a:fld>
            <a:endParaRPr lang="en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9E55F4-2EB5-AA65-3A7C-33344C86C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C0EAD8-1727-E81C-D3B4-2821B18D1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1A84-6FDC-6441-968C-BEB6C8CDE4F6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192037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B5270-CA6D-04CD-1E56-BB4862B4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01492-68AF-A199-C6B5-60D460225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9B212F-F717-6BA9-98A6-375C7B511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5FC7BA-543E-1F86-292C-5530E3CCA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8D006-C777-B44B-8342-C94B0BCA22FC}" type="datetimeFigureOut">
              <a:rPr lang="en-BR" smtClean="0"/>
              <a:t>05/04/26</a:t>
            </a:fld>
            <a:endParaRPr lang="en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4B08B-B950-D716-BAFF-9F89A78F2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F23D67-0EB2-293E-0384-95D356822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1A84-6FDC-6441-968C-BEB6C8CDE4F6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474657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A4E16-C224-EE99-F350-99812FD2B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C4A53F-53DF-FE20-0A19-7E5C5CA561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C23A2D-C9EA-DA08-A728-1A09B7708D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B4E19E-B325-FF09-6D84-D888C2BC2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8D006-C777-B44B-8342-C94B0BCA22FC}" type="datetimeFigureOut">
              <a:rPr lang="en-BR" smtClean="0"/>
              <a:t>05/04/26</a:t>
            </a:fld>
            <a:endParaRPr lang="en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E2F944-8C86-FE4E-7265-C87A67BE4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63C480-D23B-F6D1-ABB9-925E03DEF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1A84-6FDC-6441-968C-BEB6C8CDE4F6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078049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0B3FC-F043-F6BC-8FB8-5F65604F7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134FF4-6F3C-FE4B-FD59-6FD20F59E3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25DA0-961C-C93E-75B0-C2604FD14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8D006-C777-B44B-8342-C94B0BCA22FC}" type="datetimeFigureOut">
              <a:rPr lang="en-BR" smtClean="0"/>
              <a:t>05/04/26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A9E71-A24D-4F47-BC62-60DF19458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F4BDA8-7199-C27F-EC1A-3073E8DFF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1A84-6FDC-6441-968C-BEB6C8CDE4F6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014163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6620DE-3F8B-8BF5-768B-A3FEDE41BE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06AA5A-BB55-2C5E-9C13-91E7D35B44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52E0B8-B83C-E2C9-97C9-59AD1773D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8D006-C777-B44B-8342-C94B0BCA22FC}" type="datetimeFigureOut">
              <a:rPr lang="en-BR" smtClean="0"/>
              <a:t>05/04/26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CB3BB-F4E8-95EE-1C64-4CA58C9D2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112B97-89F2-1803-09FB-E54F3509D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1A84-6FDC-6441-968C-BEB6C8CDE4F6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902848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E9490E-B8F4-8766-D163-C19532569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F6C945-7A86-BAB0-E203-84705CCC97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FDC80E-5F92-50E0-FECB-4FE46CF8F8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28D006-C777-B44B-8342-C94B0BCA22FC}" type="datetimeFigureOut">
              <a:rPr lang="en-BR" smtClean="0"/>
              <a:t>05/04/26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FB7CFC-F0E7-BAA0-A1D2-A5F304D1CA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D236B7-90D5-C8AB-DD72-E85915F418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3D1A84-6FDC-6441-968C-BEB6C8CDE4F6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436275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326B5F-8D94-62B7-4939-FC4620A043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en-BR" sz="4800" dirty="0">
                <a:solidFill>
                  <a:srgbClr val="FFFFFF"/>
                </a:solidFill>
              </a:rPr>
              <a:t>Checkpoint 1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E5F751-8D4B-3411-8C5E-082BD064E4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>
            <a:normAutofit/>
          </a:bodyPr>
          <a:lstStyle/>
          <a:p>
            <a:pPr algn="r"/>
            <a:r>
              <a:rPr lang="en-BR" dirty="0">
                <a:solidFill>
                  <a:srgbClr val="FFFFFF"/>
                </a:solidFill>
              </a:rPr>
              <a:t>Aluno: Victor Manzini</a:t>
            </a:r>
          </a:p>
          <a:p>
            <a:pPr algn="r"/>
            <a:r>
              <a:rPr lang="en-BR" dirty="0">
                <a:solidFill>
                  <a:srgbClr val="FFFFFF"/>
                </a:solidFill>
              </a:rPr>
              <a:t>RM: 572123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390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5D8D14-9569-B985-2C78-F6B4109D6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BR" sz="4000" dirty="0">
                <a:solidFill>
                  <a:srgbClr val="FFFFFF"/>
                </a:solidFill>
              </a:rPr>
              <a:t>Seção A: Mapa mental </a:t>
            </a:r>
          </a:p>
        </p:txBody>
      </p:sp>
      <p:pic>
        <p:nvPicPr>
          <p:cNvPr id="6" name="Content Placeholder 5" descr="A diagram of a machine learning&#10;&#10;AI-generated content may be incorrect.">
            <a:extLst>
              <a:ext uri="{FF2B5EF4-FFF2-40B4-BE49-F238E27FC236}">
                <a16:creationId xmlns:a16="http://schemas.microsoft.com/office/drawing/2014/main" id="{471ED3DE-A989-8C09-1454-C079D76B50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1599" y="1590741"/>
            <a:ext cx="9295121" cy="5228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440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8CF893-D57B-8BC7-1F1A-C2E233B79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BR" sz="4000" dirty="0">
                <a:solidFill>
                  <a:srgbClr val="FFFFFF"/>
                </a:solidFill>
              </a:rPr>
              <a:t>Seção B: Análise de 3 ferramentas de IA</a:t>
            </a:r>
            <a:br>
              <a:rPr lang="en-BR" sz="4000" dirty="0">
                <a:solidFill>
                  <a:srgbClr val="FFFFFF"/>
                </a:solidFill>
              </a:rPr>
            </a:br>
            <a:br>
              <a:rPr lang="en-BR" sz="4000" dirty="0">
                <a:solidFill>
                  <a:srgbClr val="FFFFFF"/>
                </a:solidFill>
              </a:rPr>
            </a:br>
            <a:r>
              <a:rPr lang="en-BR" sz="4000" dirty="0">
                <a:solidFill>
                  <a:srgbClr val="FFFFFF"/>
                </a:solidFill>
              </a:rPr>
              <a:t>1º:  Claude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36121-D598-1E5A-F926-769601F01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BR" sz="1600" b="1" dirty="0"/>
              <a:t>Nome e empresa</a:t>
            </a:r>
            <a:r>
              <a:rPr lang="en-BR" sz="1600" dirty="0"/>
              <a:t>: Claude,desenvolvido por Anthropic. </a:t>
            </a:r>
          </a:p>
          <a:p>
            <a:r>
              <a:rPr lang="en-BR" sz="1600" b="1" dirty="0"/>
              <a:t>Subárea: </a:t>
            </a:r>
            <a:r>
              <a:rPr lang="en-BR" sz="1600" dirty="0"/>
              <a:t>IA Generativa + NLP (Natural Lenguage Processing)</a:t>
            </a:r>
          </a:p>
          <a:p>
            <a:r>
              <a:rPr lang="en-BR" sz="1600" b="1" dirty="0"/>
              <a:t>Tipo de modelo: </a:t>
            </a:r>
            <a:r>
              <a:rPr lang="en-BR" sz="1600" dirty="0"/>
              <a:t>Transformer decoder-only, treinado com uma técnica chamada Constitutional AI, onde o modelo aprende a seguir princípios de seguraça e utilidade urante o próprio treinamento, não só via feedback humano. </a:t>
            </a:r>
          </a:p>
          <a:p>
            <a:r>
              <a:rPr lang="en-US" sz="1600" b="1" dirty="0"/>
              <a:t>I</a:t>
            </a:r>
            <a:r>
              <a:rPr lang="en-BR" sz="1600" b="1" dirty="0"/>
              <a:t>nput e output: </a:t>
            </a:r>
            <a:r>
              <a:rPr lang="en-BR" sz="1600" dirty="0"/>
              <a:t>O usuário fornece texto, documentos ou imagens. O modelo retorna texto gerado, respostas, análise, código, resumos etc, com contexto até de 200 mil Tokens, permitindo processar documentos inteiros. </a:t>
            </a:r>
          </a:p>
          <a:p>
            <a:r>
              <a:rPr lang="en-BR" sz="1600" b="1" dirty="0"/>
              <a:t>Caso de uso real em empresas brasileiras: </a:t>
            </a:r>
            <a:r>
              <a:rPr lang="en-BR" sz="1600" dirty="0"/>
              <a:t>Escritórios de advocacia e consultoria brasileiras podem usar o Claude para analisar contratos longos,identificar cláusulas problemáticas, e gerar resumos executivos, aproveitando justamente a grande janela de contexto. Esses são apenas dois exemplos de uso do Claude, infinitas áreas podem usar IA para ajudar e transformar o trabalho mais eficiente.</a:t>
            </a:r>
          </a:p>
          <a:p>
            <a:r>
              <a:rPr lang="en-US" sz="1600" b="1" dirty="0"/>
              <a:t>I</a:t>
            </a:r>
            <a:r>
              <a:rPr lang="en-BR" sz="1600" b="1" dirty="0"/>
              <a:t>mpacto no mercado: </a:t>
            </a:r>
            <a:r>
              <a:rPr lang="en-BR" sz="1600" dirty="0"/>
              <a:t>Afeta analistas, consultores e profissionais que trabalham com grandes volumes de texto. Reduz tempo de leitura e síntese de documentos, exigindo que profissionais foquem em julgamento e em tomada de decisão.  </a:t>
            </a:r>
          </a:p>
        </p:txBody>
      </p:sp>
    </p:spTree>
    <p:extLst>
      <p:ext uri="{BB962C8B-B14F-4D97-AF65-F5344CB8AC3E}">
        <p14:creationId xmlns:p14="http://schemas.microsoft.com/office/powerpoint/2010/main" val="2871513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E62834-96CA-1E5B-85E7-FBDEF6995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BR" sz="4000" dirty="0">
                <a:solidFill>
                  <a:srgbClr val="FFFFFF"/>
                </a:solidFill>
              </a:rPr>
              <a:t>Seção B: </a:t>
            </a:r>
            <a:br>
              <a:rPr lang="en-BR" sz="4000" dirty="0">
                <a:solidFill>
                  <a:srgbClr val="FFFFFF"/>
                </a:solidFill>
              </a:rPr>
            </a:br>
            <a:r>
              <a:rPr lang="en-BR" sz="4000" dirty="0">
                <a:solidFill>
                  <a:srgbClr val="FFFFFF"/>
                </a:solidFill>
              </a:rPr>
              <a:t>Análise de 3 ferramentas de IA</a:t>
            </a:r>
            <a:br>
              <a:rPr lang="en-BR" sz="4000" dirty="0">
                <a:solidFill>
                  <a:srgbClr val="FFFFFF"/>
                </a:solidFill>
              </a:rPr>
            </a:br>
            <a:br>
              <a:rPr lang="en-BR" sz="4000" dirty="0">
                <a:solidFill>
                  <a:srgbClr val="FFFFFF"/>
                </a:solidFill>
              </a:rPr>
            </a:br>
            <a:r>
              <a:rPr lang="en-BR" sz="4000" dirty="0">
                <a:solidFill>
                  <a:srgbClr val="FFFFFF"/>
                </a:solidFill>
              </a:rPr>
              <a:t>2º: Cursor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7A004-D9DC-F842-9BF4-303710BCFB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BR" sz="1600" b="1" dirty="0"/>
              <a:t>Nome e empresa: </a:t>
            </a:r>
            <a:r>
              <a:rPr lang="en-BR" sz="1600" dirty="0"/>
              <a:t>Cursor, desenvolvido pela Anysphere. </a:t>
            </a:r>
          </a:p>
          <a:p>
            <a:r>
              <a:rPr lang="en-US" sz="1600" b="1" dirty="0"/>
              <a:t>S</a:t>
            </a:r>
            <a:r>
              <a:rPr lang="en-BR" sz="1600" b="1" dirty="0"/>
              <a:t>ubárea da IA: </a:t>
            </a:r>
            <a:r>
              <a:rPr lang="en-BR" sz="1600" dirty="0"/>
              <a:t>IA Generativa + NLP</a:t>
            </a:r>
          </a:p>
          <a:p>
            <a:r>
              <a:rPr lang="en-BR" sz="1600" b="1" dirty="0"/>
              <a:t>Tipo de modelo: </a:t>
            </a:r>
            <a:r>
              <a:rPr lang="en-US" sz="1600" dirty="0" err="1"/>
              <a:t>Utiliza</a:t>
            </a:r>
            <a:r>
              <a:rPr lang="en-US" sz="1600" dirty="0"/>
              <a:t> </a:t>
            </a:r>
            <a:r>
              <a:rPr lang="en-US" sz="1600" dirty="0" err="1"/>
              <a:t>modelos</a:t>
            </a:r>
            <a:r>
              <a:rPr lang="en-US" sz="1600" dirty="0"/>
              <a:t> </a:t>
            </a:r>
            <a:r>
              <a:rPr lang="en-US" sz="1600" dirty="0" err="1"/>
              <a:t>como</a:t>
            </a:r>
            <a:r>
              <a:rPr lang="en-US" sz="1600" dirty="0"/>
              <a:t> Claude e GPT-4 </a:t>
            </a:r>
            <a:r>
              <a:rPr lang="en-US" sz="1600" dirty="0" err="1"/>
              <a:t>internamente</a:t>
            </a:r>
            <a:r>
              <a:rPr lang="en-US" sz="1600" dirty="0"/>
              <a:t>, com </a:t>
            </a:r>
            <a:r>
              <a:rPr lang="en-US" sz="1600" dirty="0" err="1"/>
              <a:t>uma</a:t>
            </a:r>
            <a:r>
              <a:rPr lang="en-US" sz="1600" dirty="0"/>
              <a:t> </a:t>
            </a:r>
            <a:r>
              <a:rPr lang="en-US" sz="1600" dirty="0" err="1"/>
              <a:t>camada</a:t>
            </a:r>
            <a:r>
              <a:rPr lang="en-US" sz="1600" dirty="0"/>
              <a:t> </a:t>
            </a:r>
            <a:r>
              <a:rPr lang="en-US" sz="1600" dirty="0" err="1"/>
              <a:t>adicional</a:t>
            </a:r>
            <a:r>
              <a:rPr lang="en-US" sz="1600" dirty="0"/>
              <a:t> </a:t>
            </a:r>
            <a:r>
              <a:rPr lang="en-US" sz="1600" dirty="0" err="1"/>
              <a:t>treinada</a:t>
            </a:r>
            <a:r>
              <a:rPr lang="en-US" sz="1600" dirty="0"/>
              <a:t> </a:t>
            </a:r>
            <a:r>
              <a:rPr lang="en-US" sz="1600" dirty="0" err="1"/>
              <a:t>especificamente</a:t>
            </a:r>
            <a:r>
              <a:rPr lang="en-US" sz="1600" dirty="0"/>
              <a:t> para </a:t>
            </a:r>
            <a:r>
              <a:rPr lang="en-US" sz="1600" dirty="0" err="1"/>
              <a:t>entender</a:t>
            </a:r>
            <a:r>
              <a:rPr lang="en-US" sz="1600" dirty="0"/>
              <a:t> a </a:t>
            </a:r>
            <a:r>
              <a:rPr lang="en-US" sz="1600" dirty="0" err="1"/>
              <a:t>estrutura</a:t>
            </a:r>
            <a:r>
              <a:rPr lang="en-US" sz="1600" dirty="0"/>
              <a:t> completa de </a:t>
            </a:r>
            <a:r>
              <a:rPr lang="en-US" sz="1600" dirty="0" err="1"/>
              <a:t>projetos</a:t>
            </a:r>
            <a:r>
              <a:rPr lang="en-US" sz="1600" dirty="0"/>
              <a:t> de software, </a:t>
            </a:r>
            <a:r>
              <a:rPr lang="en-US" sz="1600" dirty="0" err="1"/>
              <a:t>não</a:t>
            </a:r>
            <a:r>
              <a:rPr lang="en-US" sz="1600" dirty="0"/>
              <a:t> </a:t>
            </a:r>
            <a:r>
              <a:rPr lang="en-US" sz="1600" dirty="0" err="1"/>
              <a:t>só</a:t>
            </a:r>
            <a:r>
              <a:rPr lang="en-US" sz="1600" dirty="0"/>
              <a:t> </a:t>
            </a:r>
            <a:r>
              <a:rPr lang="en-US" sz="1600" dirty="0" err="1"/>
              <a:t>arquivos</a:t>
            </a:r>
            <a:r>
              <a:rPr lang="en-US" sz="1600" dirty="0"/>
              <a:t> </a:t>
            </a:r>
            <a:r>
              <a:rPr lang="en-US" sz="1600" dirty="0" err="1"/>
              <a:t>isolados</a:t>
            </a:r>
            <a:r>
              <a:rPr lang="en-US" sz="1600" dirty="0"/>
              <a:t>.</a:t>
            </a:r>
          </a:p>
          <a:p>
            <a:r>
              <a:rPr lang="en-US" sz="1600" b="1" dirty="0"/>
              <a:t>Input e output:</a:t>
            </a:r>
            <a:r>
              <a:rPr lang="en-US" sz="1600" dirty="0"/>
              <a:t> O </a:t>
            </a:r>
            <a:r>
              <a:rPr lang="en-US" sz="1600" dirty="0" err="1"/>
              <a:t>usuário</a:t>
            </a:r>
            <a:r>
              <a:rPr lang="en-US" sz="1600" dirty="0"/>
              <a:t> </a:t>
            </a:r>
            <a:r>
              <a:rPr lang="en-US" sz="1600" dirty="0" err="1"/>
              <a:t>escreve</a:t>
            </a:r>
            <a:r>
              <a:rPr lang="en-US" sz="1600" dirty="0"/>
              <a:t> </a:t>
            </a:r>
            <a:r>
              <a:rPr lang="en-US" sz="1600" dirty="0" err="1"/>
              <a:t>em</a:t>
            </a:r>
            <a:r>
              <a:rPr lang="en-US" sz="1600" dirty="0"/>
              <a:t> </a:t>
            </a:r>
            <a:r>
              <a:rPr lang="en-US" sz="1600" dirty="0" err="1"/>
              <a:t>linguagem</a:t>
            </a:r>
            <a:r>
              <a:rPr lang="en-US" sz="1600" dirty="0"/>
              <a:t> natural o </a:t>
            </a:r>
            <a:r>
              <a:rPr lang="en-US" sz="1600" dirty="0" err="1"/>
              <a:t>que</a:t>
            </a:r>
            <a:r>
              <a:rPr lang="en-US" sz="1600" dirty="0"/>
              <a:t> </a:t>
            </a:r>
            <a:r>
              <a:rPr lang="en-US" sz="1600" dirty="0" err="1"/>
              <a:t>quer</a:t>
            </a:r>
            <a:r>
              <a:rPr lang="en-US" sz="1600" dirty="0"/>
              <a:t> </a:t>
            </a:r>
            <a:r>
              <a:rPr lang="en-US" sz="1600" dirty="0" err="1"/>
              <a:t>fazer</a:t>
            </a:r>
            <a:r>
              <a:rPr lang="en-US" sz="1600" dirty="0"/>
              <a:t> no </a:t>
            </a:r>
            <a:r>
              <a:rPr lang="en-US" sz="1600" dirty="0" err="1"/>
              <a:t>código</a:t>
            </a:r>
            <a:r>
              <a:rPr lang="en-US" sz="1600" dirty="0"/>
              <a:t>, </a:t>
            </a:r>
            <a:r>
              <a:rPr lang="en-US" sz="1600" dirty="0" err="1"/>
              <a:t>ou</a:t>
            </a:r>
            <a:r>
              <a:rPr lang="en-US" sz="1600" dirty="0"/>
              <a:t> </a:t>
            </a:r>
            <a:r>
              <a:rPr lang="en-US" sz="1600" dirty="0" err="1"/>
              <a:t>seleciona</a:t>
            </a:r>
            <a:r>
              <a:rPr lang="en-US" sz="1600" dirty="0"/>
              <a:t> </a:t>
            </a:r>
            <a:r>
              <a:rPr lang="en-US" sz="1600" dirty="0" err="1"/>
              <a:t>trechos</a:t>
            </a:r>
            <a:r>
              <a:rPr lang="en-US" sz="1600" dirty="0"/>
              <a:t> e </a:t>
            </a:r>
            <a:r>
              <a:rPr lang="en-US" sz="1600" dirty="0" err="1"/>
              <a:t>pede</a:t>
            </a:r>
            <a:r>
              <a:rPr lang="en-US" sz="1600" dirty="0"/>
              <a:t> </a:t>
            </a:r>
            <a:r>
              <a:rPr lang="en-US" sz="1600" dirty="0" err="1"/>
              <a:t>alterações</a:t>
            </a:r>
            <a:r>
              <a:rPr lang="en-US" sz="1600" dirty="0"/>
              <a:t>. O </a:t>
            </a:r>
            <a:r>
              <a:rPr lang="en-US" sz="1600" dirty="0" err="1"/>
              <a:t>modelo</a:t>
            </a:r>
            <a:r>
              <a:rPr lang="en-US" sz="1600" dirty="0"/>
              <a:t> </a:t>
            </a:r>
            <a:r>
              <a:rPr lang="en-US" sz="1600" dirty="0" err="1"/>
              <a:t>retorna</a:t>
            </a:r>
            <a:r>
              <a:rPr lang="en-US" sz="1600" dirty="0"/>
              <a:t> </a:t>
            </a:r>
            <a:r>
              <a:rPr lang="en-US" sz="1600" dirty="0" err="1"/>
              <a:t>código</a:t>
            </a:r>
            <a:r>
              <a:rPr lang="en-US" sz="1600" dirty="0"/>
              <a:t> </a:t>
            </a:r>
            <a:r>
              <a:rPr lang="en-US" sz="1600" dirty="0" err="1"/>
              <a:t>gerado</a:t>
            </a:r>
            <a:r>
              <a:rPr lang="en-US" sz="1600" dirty="0"/>
              <a:t>, </a:t>
            </a:r>
            <a:r>
              <a:rPr lang="en-US" sz="1600" dirty="0" err="1"/>
              <a:t>refatorado</a:t>
            </a:r>
            <a:r>
              <a:rPr lang="en-US" sz="1600" dirty="0"/>
              <a:t> </a:t>
            </a:r>
            <a:r>
              <a:rPr lang="en-US" sz="1600" dirty="0" err="1"/>
              <a:t>ou</a:t>
            </a:r>
            <a:r>
              <a:rPr lang="en-US" sz="1600" dirty="0"/>
              <a:t> </a:t>
            </a:r>
            <a:r>
              <a:rPr lang="en-US" sz="1600" dirty="0" err="1"/>
              <a:t>corrigido</a:t>
            </a:r>
            <a:r>
              <a:rPr lang="en-US" sz="1600" dirty="0"/>
              <a:t>, </a:t>
            </a:r>
            <a:r>
              <a:rPr lang="en-US" sz="1600" dirty="0" err="1"/>
              <a:t>entendendo</a:t>
            </a:r>
            <a:r>
              <a:rPr lang="en-US" sz="1600" dirty="0"/>
              <a:t> o </a:t>
            </a:r>
            <a:r>
              <a:rPr lang="en-US" sz="1600" dirty="0" err="1"/>
              <a:t>contexto</a:t>
            </a:r>
            <a:r>
              <a:rPr lang="en-US" sz="1600" dirty="0"/>
              <a:t> de </a:t>
            </a:r>
            <a:r>
              <a:rPr lang="en-US" sz="1600" dirty="0" err="1"/>
              <a:t>todo</a:t>
            </a:r>
            <a:r>
              <a:rPr lang="en-US" sz="1600" dirty="0"/>
              <a:t> o </a:t>
            </a:r>
            <a:r>
              <a:rPr lang="en-US" sz="1600" dirty="0" err="1"/>
              <a:t>projeto</a:t>
            </a:r>
            <a:r>
              <a:rPr lang="en-US" sz="1600" dirty="0"/>
              <a:t>.</a:t>
            </a:r>
          </a:p>
          <a:p>
            <a:r>
              <a:rPr lang="en-US" sz="1600" b="1" dirty="0"/>
              <a:t>Caso de </a:t>
            </a:r>
            <a:r>
              <a:rPr lang="en-US" sz="1600" b="1" dirty="0" err="1"/>
              <a:t>uso</a:t>
            </a:r>
            <a:r>
              <a:rPr lang="en-US" sz="1600" b="1" dirty="0"/>
              <a:t> real </a:t>
            </a:r>
            <a:r>
              <a:rPr lang="en-US" sz="1600" b="1" dirty="0" err="1"/>
              <a:t>brasileiro</a:t>
            </a:r>
            <a:r>
              <a:rPr lang="en-US" sz="1600" b="1" dirty="0"/>
              <a:t>:</a:t>
            </a:r>
            <a:r>
              <a:rPr lang="en-US" sz="1600" dirty="0"/>
              <a:t> Startups </a:t>
            </a:r>
            <a:r>
              <a:rPr lang="en-US" sz="1600" dirty="0" err="1"/>
              <a:t>brasileiras</a:t>
            </a:r>
            <a:r>
              <a:rPr lang="en-US" sz="1600" dirty="0"/>
              <a:t> de </a:t>
            </a:r>
            <a:r>
              <a:rPr lang="en-US" sz="1600" dirty="0" err="1"/>
              <a:t>tecnologia</a:t>
            </a:r>
            <a:r>
              <a:rPr lang="en-US" sz="1600" dirty="0"/>
              <a:t> </a:t>
            </a:r>
            <a:r>
              <a:rPr lang="en-US" sz="1600" dirty="0" err="1"/>
              <a:t>como</a:t>
            </a:r>
            <a:r>
              <a:rPr lang="en-US" sz="1600" dirty="0"/>
              <a:t> as </a:t>
            </a:r>
            <a:r>
              <a:rPr lang="en-US" sz="1600" dirty="0" err="1"/>
              <a:t>aceleradas</a:t>
            </a:r>
            <a:r>
              <a:rPr lang="en-US" sz="1600" dirty="0"/>
              <a:t> pela Y Combinator </a:t>
            </a:r>
            <a:r>
              <a:rPr lang="en-US" sz="1600" dirty="0" err="1"/>
              <a:t>Brasil</a:t>
            </a:r>
            <a:r>
              <a:rPr lang="en-US" sz="1600" dirty="0"/>
              <a:t> </a:t>
            </a:r>
            <a:r>
              <a:rPr lang="en-US" sz="1600" dirty="0" err="1"/>
              <a:t>usam</a:t>
            </a:r>
            <a:r>
              <a:rPr lang="en-US" sz="1600" dirty="0"/>
              <a:t> o Cursor para </a:t>
            </a:r>
            <a:r>
              <a:rPr lang="en-US" sz="1600" dirty="0" err="1"/>
              <a:t>reduzir</a:t>
            </a:r>
            <a:r>
              <a:rPr lang="en-US" sz="1600" dirty="0"/>
              <a:t> o tempo de </a:t>
            </a:r>
            <a:r>
              <a:rPr lang="en-US" sz="1600" dirty="0" err="1"/>
              <a:t>desenvolvimento</a:t>
            </a:r>
            <a:r>
              <a:rPr lang="en-US" sz="1600" dirty="0"/>
              <a:t> de MVPs, </a:t>
            </a:r>
            <a:r>
              <a:rPr lang="en-US" sz="1600" dirty="0" err="1"/>
              <a:t>permitindo</a:t>
            </a:r>
            <a:r>
              <a:rPr lang="en-US" sz="1600" dirty="0"/>
              <a:t> </a:t>
            </a:r>
            <a:r>
              <a:rPr lang="en-US" sz="1600" dirty="0" err="1"/>
              <a:t>que</a:t>
            </a:r>
            <a:r>
              <a:rPr lang="en-US" sz="1600" dirty="0"/>
              <a:t> times </a:t>
            </a:r>
            <a:r>
              <a:rPr lang="en-US" sz="1600" dirty="0" err="1"/>
              <a:t>pequenos</a:t>
            </a:r>
            <a:r>
              <a:rPr lang="en-US" sz="1600" dirty="0"/>
              <a:t> </a:t>
            </a:r>
            <a:r>
              <a:rPr lang="en-US" sz="1600" dirty="0" err="1"/>
              <a:t>entreguem</a:t>
            </a:r>
            <a:r>
              <a:rPr lang="en-US" sz="1600" dirty="0"/>
              <a:t> software </a:t>
            </a:r>
            <a:r>
              <a:rPr lang="en-US" sz="1600" dirty="0" err="1"/>
              <a:t>funcional</a:t>
            </a:r>
            <a:r>
              <a:rPr lang="en-US" sz="1600" dirty="0"/>
              <a:t> </a:t>
            </a:r>
            <a:r>
              <a:rPr lang="en-US" sz="1600" dirty="0" err="1"/>
              <a:t>muito</a:t>
            </a:r>
            <a:r>
              <a:rPr lang="en-US" sz="1600" dirty="0"/>
              <a:t> </a:t>
            </a:r>
            <a:r>
              <a:rPr lang="en-US" sz="1600" dirty="0" err="1"/>
              <a:t>mais</a:t>
            </a:r>
            <a:r>
              <a:rPr lang="en-US" sz="1600" dirty="0"/>
              <a:t> </a:t>
            </a:r>
            <a:r>
              <a:rPr lang="en-US" sz="1600" dirty="0" err="1"/>
              <a:t>rápido</a:t>
            </a:r>
            <a:r>
              <a:rPr lang="en-US" sz="1600" dirty="0"/>
              <a:t>.</a:t>
            </a:r>
          </a:p>
          <a:p>
            <a:r>
              <a:rPr lang="en-US" sz="1600" b="1" dirty="0"/>
              <a:t>Impacto no mercado:</a:t>
            </a:r>
            <a:r>
              <a:rPr lang="en-US" sz="1600" dirty="0"/>
              <a:t> </a:t>
            </a:r>
            <a:r>
              <a:rPr lang="en-US" sz="1600" dirty="0" err="1"/>
              <a:t>Afeta</a:t>
            </a:r>
            <a:r>
              <a:rPr lang="en-US" sz="1600" dirty="0"/>
              <a:t> </a:t>
            </a:r>
            <a:r>
              <a:rPr lang="en-US" sz="1600" dirty="0" err="1"/>
              <a:t>desenvolvedores</a:t>
            </a:r>
            <a:r>
              <a:rPr lang="en-US" sz="1600" dirty="0"/>
              <a:t> de </a:t>
            </a:r>
            <a:r>
              <a:rPr lang="en-US" sz="1600" dirty="0" err="1"/>
              <a:t>todos</a:t>
            </a:r>
            <a:r>
              <a:rPr lang="en-US" sz="1600" dirty="0"/>
              <a:t> </a:t>
            </a:r>
            <a:r>
              <a:rPr lang="en-US" sz="1600" dirty="0" err="1"/>
              <a:t>os</a:t>
            </a:r>
            <a:r>
              <a:rPr lang="en-US" sz="1600" dirty="0"/>
              <a:t> </a:t>
            </a:r>
            <a:r>
              <a:rPr lang="en-US" sz="1600" dirty="0" err="1"/>
              <a:t>níveis</a:t>
            </a:r>
            <a:r>
              <a:rPr lang="en-US" sz="1600" dirty="0"/>
              <a:t>. O Cursor </a:t>
            </a:r>
            <a:r>
              <a:rPr lang="en-US" sz="1600" dirty="0" err="1"/>
              <a:t>vai</a:t>
            </a:r>
            <a:r>
              <a:rPr lang="en-US" sz="1600" dirty="0"/>
              <a:t> </a:t>
            </a:r>
            <a:r>
              <a:rPr lang="en-US" sz="1600" dirty="0" err="1"/>
              <a:t>além</a:t>
            </a:r>
            <a:r>
              <a:rPr lang="en-US" sz="1600" dirty="0"/>
              <a:t> do Copilot, </a:t>
            </a:r>
            <a:r>
              <a:rPr lang="en-US" sz="1600" dirty="0" err="1"/>
              <a:t>enquanto</a:t>
            </a:r>
            <a:r>
              <a:rPr lang="en-US" sz="1600" dirty="0"/>
              <a:t> o Copilot </a:t>
            </a:r>
            <a:r>
              <a:rPr lang="en-US" sz="1600" dirty="0" err="1"/>
              <a:t>sugere</a:t>
            </a:r>
            <a:r>
              <a:rPr lang="en-US" sz="1600" dirty="0"/>
              <a:t> </a:t>
            </a:r>
            <a:r>
              <a:rPr lang="en-US" sz="1600" dirty="0" err="1"/>
              <a:t>linhas</a:t>
            </a:r>
            <a:r>
              <a:rPr lang="en-US" sz="1600" dirty="0"/>
              <a:t>, o Cursor </a:t>
            </a:r>
            <a:r>
              <a:rPr lang="en-US" sz="1600" dirty="0" err="1"/>
              <a:t>entende</a:t>
            </a:r>
            <a:r>
              <a:rPr lang="en-US" sz="1600" dirty="0"/>
              <a:t> e </a:t>
            </a:r>
            <a:r>
              <a:rPr lang="en-US" sz="1600" dirty="0" err="1"/>
              <a:t>modifica</a:t>
            </a:r>
            <a:r>
              <a:rPr lang="en-US" sz="1600" dirty="0"/>
              <a:t> </a:t>
            </a:r>
            <a:r>
              <a:rPr lang="en-US" sz="1600" dirty="0" err="1"/>
              <a:t>projetos</a:t>
            </a:r>
            <a:r>
              <a:rPr lang="en-US" sz="1600" dirty="0"/>
              <a:t> </a:t>
            </a:r>
            <a:r>
              <a:rPr lang="en-US" sz="1600" dirty="0" err="1"/>
              <a:t>inteiros</a:t>
            </a:r>
            <a:r>
              <a:rPr lang="en-US" sz="1600" dirty="0"/>
              <a:t>. Eleva o </a:t>
            </a:r>
            <a:r>
              <a:rPr lang="en-US" sz="1600" dirty="0" err="1"/>
              <a:t>padrão</a:t>
            </a:r>
            <a:r>
              <a:rPr lang="en-US" sz="1600" dirty="0"/>
              <a:t> </a:t>
            </a:r>
            <a:r>
              <a:rPr lang="en-US" sz="1600" dirty="0" err="1"/>
              <a:t>mínimo</a:t>
            </a:r>
            <a:r>
              <a:rPr lang="en-US" sz="1600" dirty="0"/>
              <a:t> </a:t>
            </a:r>
            <a:r>
              <a:rPr lang="en-US" sz="1600" dirty="0" err="1"/>
              <a:t>esperado</a:t>
            </a:r>
            <a:r>
              <a:rPr lang="en-US" sz="1600" dirty="0"/>
              <a:t> de </a:t>
            </a:r>
            <a:r>
              <a:rPr lang="en-US" sz="1600" dirty="0" err="1"/>
              <a:t>produtividade</a:t>
            </a:r>
            <a:r>
              <a:rPr lang="en-US" sz="1600" dirty="0"/>
              <a:t> de um </a:t>
            </a:r>
            <a:r>
              <a:rPr lang="en-US" sz="1600" dirty="0" err="1"/>
              <a:t>desenvolvedor</a:t>
            </a:r>
            <a:r>
              <a:rPr lang="en-US" sz="1600" dirty="0"/>
              <a:t>.</a:t>
            </a:r>
          </a:p>
          <a:p>
            <a:pPr marL="0" indent="0">
              <a:buNone/>
            </a:pPr>
            <a:endParaRPr lang="en-BR" sz="1600" b="1" dirty="0"/>
          </a:p>
        </p:txBody>
      </p:sp>
    </p:spTree>
    <p:extLst>
      <p:ext uri="{BB962C8B-B14F-4D97-AF65-F5344CB8AC3E}">
        <p14:creationId xmlns:p14="http://schemas.microsoft.com/office/powerpoint/2010/main" val="3802965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FA152E-CD90-97FD-EC23-78AB04512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BR" sz="4000" dirty="0">
                <a:solidFill>
                  <a:srgbClr val="FFFFFF"/>
                </a:solidFill>
              </a:rPr>
              <a:t>Seção B: </a:t>
            </a:r>
            <a:br>
              <a:rPr lang="en-BR" sz="4000" dirty="0">
                <a:solidFill>
                  <a:srgbClr val="FFFFFF"/>
                </a:solidFill>
              </a:rPr>
            </a:br>
            <a:r>
              <a:rPr lang="en-BR" sz="4000" dirty="0">
                <a:solidFill>
                  <a:srgbClr val="FFFFFF"/>
                </a:solidFill>
              </a:rPr>
              <a:t>Anlálise de 3 ferramentas de IA</a:t>
            </a:r>
            <a:br>
              <a:rPr lang="en-BR" sz="4000" dirty="0">
                <a:solidFill>
                  <a:srgbClr val="FFFFFF"/>
                </a:solidFill>
              </a:rPr>
            </a:br>
            <a:br>
              <a:rPr lang="en-BR" sz="4000" dirty="0">
                <a:solidFill>
                  <a:srgbClr val="FFFFFF"/>
                </a:solidFill>
              </a:rPr>
            </a:br>
            <a:r>
              <a:rPr lang="en-BR" sz="4000" dirty="0">
                <a:solidFill>
                  <a:srgbClr val="FFFFFF"/>
                </a:solidFill>
              </a:rPr>
              <a:t>3º: Midjourney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56106-0D88-F44C-6FD9-922AF718A9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1700" b="1" dirty="0"/>
              <a:t>Nome e </a:t>
            </a:r>
            <a:r>
              <a:rPr lang="en-US" sz="1700" b="1" dirty="0" err="1"/>
              <a:t>empresa</a:t>
            </a:r>
            <a:r>
              <a:rPr lang="en-US" sz="1700" b="1" dirty="0"/>
              <a:t>:</a:t>
            </a:r>
            <a:r>
              <a:rPr lang="en-US" sz="1700" dirty="0"/>
              <a:t> Midjourney, </a:t>
            </a:r>
            <a:r>
              <a:rPr lang="en-US" sz="1700" dirty="0" err="1"/>
              <a:t>desenvolvido</a:t>
            </a:r>
            <a:r>
              <a:rPr lang="en-US" sz="1700" dirty="0"/>
              <a:t> pela Midjourney Inc. </a:t>
            </a:r>
            <a:r>
              <a:rPr lang="en-US" sz="1700" dirty="0" err="1"/>
              <a:t>Lançado</a:t>
            </a:r>
            <a:r>
              <a:rPr lang="en-US" sz="1700" dirty="0"/>
              <a:t> </a:t>
            </a:r>
            <a:r>
              <a:rPr lang="en-US" sz="1700" dirty="0" err="1"/>
              <a:t>em</a:t>
            </a:r>
            <a:r>
              <a:rPr lang="en-US" sz="1700" dirty="0"/>
              <a:t> 2022.</a:t>
            </a:r>
          </a:p>
          <a:p>
            <a:r>
              <a:rPr lang="en-US" sz="1700" b="1" dirty="0" err="1"/>
              <a:t>Subárea</a:t>
            </a:r>
            <a:r>
              <a:rPr lang="en-US" sz="1700" b="1" dirty="0"/>
              <a:t> de IA:</a:t>
            </a:r>
            <a:r>
              <a:rPr lang="en-US" sz="1700" dirty="0"/>
              <a:t> IA </a:t>
            </a:r>
            <a:r>
              <a:rPr lang="en-US" sz="1700" dirty="0" err="1"/>
              <a:t>Generativa</a:t>
            </a:r>
            <a:r>
              <a:rPr lang="en-US" sz="1700" dirty="0"/>
              <a:t> + Computer Vision</a:t>
            </a:r>
          </a:p>
          <a:p>
            <a:r>
              <a:rPr lang="en-US" sz="1700" b="1" dirty="0"/>
              <a:t>Tipo de </a:t>
            </a:r>
            <a:r>
              <a:rPr lang="en-US" sz="1700" b="1" dirty="0" err="1"/>
              <a:t>modelo</a:t>
            </a:r>
            <a:r>
              <a:rPr lang="en-US" sz="1700" b="1" dirty="0"/>
              <a:t>:</a:t>
            </a:r>
            <a:r>
              <a:rPr lang="en-US" sz="1700" dirty="0"/>
              <a:t> Diffusion Model, </a:t>
            </a:r>
            <a:r>
              <a:rPr lang="en-US" sz="1700" dirty="0" err="1"/>
              <a:t>parte</a:t>
            </a:r>
            <a:r>
              <a:rPr lang="en-US" sz="1700" dirty="0"/>
              <a:t> de </a:t>
            </a:r>
            <a:r>
              <a:rPr lang="en-US" sz="1700" dirty="0" err="1"/>
              <a:t>ruído</a:t>
            </a:r>
            <a:r>
              <a:rPr lang="en-US" sz="1700" dirty="0"/>
              <a:t> </a:t>
            </a:r>
            <a:r>
              <a:rPr lang="en-US" sz="1700" dirty="0" err="1"/>
              <a:t>aleatório</a:t>
            </a:r>
            <a:r>
              <a:rPr lang="en-US" sz="1700" dirty="0"/>
              <a:t> e </a:t>
            </a:r>
            <a:r>
              <a:rPr lang="en-US" sz="1700" dirty="0" err="1"/>
              <a:t>vai</a:t>
            </a:r>
            <a:r>
              <a:rPr lang="en-US" sz="1700" dirty="0"/>
              <a:t> </a:t>
            </a:r>
            <a:r>
              <a:rPr lang="en-US" sz="1700" dirty="0" err="1"/>
              <a:t>refinando</a:t>
            </a:r>
            <a:r>
              <a:rPr lang="en-US" sz="1700" dirty="0"/>
              <a:t> </a:t>
            </a:r>
            <a:r>
              <a:rPr lang="en-US" sz="1700" dirty="0" err="1"/>
              <a:t>progressivamente</a:t>
            </a:r>
            <a:r>
              <a:rPr lang="en-US" sz="1700" dirty="0"/>
              <a:t> a </a:t>
            </a:r>
            <a:r>
              <a:rPr lang="en-US" sz="1700" dirty="0" err="1"/>
              <a:t>imagem</a:t>
            </a:r>
            <a:r>
              <a:rPr lang="en-US" sz="1700" dirty="0"/>
              <a:t> </a:t>
            </a:r>
            <a:r>
              <a:rPr lang="en-US" sz="1700" dirty="0" err="1"/>
              <a:t>até</a:t>
            </a:r>
            <a:r>
              <a:rPr lang="en-US" sz="1700" dirty="0"/>
              <a:t> </a:t>
            </a:r>
            <a:r>
              <a:rPr lang="en-US" sz="1700" dirty="0" err="1"/>
              <a:t>chegar</a:t>
            </a:r>
            <a:r>
              <a:rPr lang="en-US" sz="1700" dirty="0"/>
              <a:t> no </a:t>
            </a:r>
            <a:r>
              <a:rPr lang="en-US" sz="1700" dirty="0" err="1"/>
              <a:t>resultado</a:t>
            </a:r>
            <a:r>
              <a:rPr lang="en-US" sz="1700" dirty="0"/>
              <a:t> final, </a:t>
            </a:r>
            <a:r>
              <a:rPr lang="en-US" sz="1700" dirty="0" err="1"/>
              <a:t>guiado</a:t>
            </a:r>
            <a:r>
              <a:rPr lang="en-US" sz="1700" dirty="0"/>
              <a:t> pela </a:t>
            </a:r>
            <a:r>
              <a:rPr lang="en-US" sz="1700" dirty="0" err="1"/>
              <a:t>descrição</a:t>
            </a:r>
            <a:r>
              <a:rPr lang="en-US" sz="1700" dirty="0"/>
              <a:t> textual </a:t>
            </a:r>
            <a:r>
              <a:rPr lang="en-US" sz="1700" dirty="0" err="1"/>
              <a:t>fornecida</a:t>
            </a:r>
            <a:r>
              <a:rPr lang="en-US" sz="1700" dirty="0"/>
              <a:t> </a:t>
            </a:r>
            <a:r>
              <a:rPr lang="en-US" sz="1700" dirty="0" err="1"/>
              <a:t>pelo</a:t>
            </a:r>
            <a:r>
              <a:rPr lang="en-US" sz="1700" dirty="0"/>
              <a:t> </a:t>
            </a:r>
            <a:r>
              <a:rPr lang="en-US" sz="1700" dirty="0" err="1"/>
              <a:t>usuário</a:t>
            </a:r>
            <a:r>
              <a:rPr lang="en-US" sz="1700" dirty="0"/>
              <a:t>.</a:t>
            </a:r>
          </a:p>
          <a:p>
            <a:r>
              <a:rPr lang="en-US" sz="1700" b="1" dirty="0"/>
              <a:t>Input e output:</a:t>
            </a:r>
            <a:r>
              <a:rPr lang="en-US" sz="1700" dirty="0"/>
              <a:t> O </a:t>
            </a:r>
            <a:r>
              <a:rPr lang="en-US" sz="1700" dirty="0" err="1"/>
              <a:t>usuário</a:t>
            </a:r>
            <a:r>
              <a:rPr lang="en-US" sz="1700" dirty="0"/>
              <a:t> </a:t>
            </a:r>
            <a:r>
              <a:rPr lang="en-US" sz="1700" dirty="0" err="1"/>
              <a:t>fornece</a:t>
            </a:r>
            <a:r>
              <a:rPr lang="en-US" sz="1700" dirty="0"/>
              <a:t> </a:t>
            </a:r>
            <a:r>
              <a:rPr lang="en-US" sz="1700" dirty="0" err="1"/>
              <a:t>uma</a:t>
            </a:r>
            <a:r>
              <a:rPr lang="en-US" sz="1700" dirty="0"/>
              <a:t> </a:t>
            </a:r>
            <a:r>
              <a:rPr lang="en-US" sz="1700" dirty="0" err="1"/>
              <a:t>descrição</a:t>
            </a:r>
            <a:r>
              <a:rPr lang="en-US" sz="1700" dirty="0"/>
              <a:t> textual </a:t>
            </a:r>
            <a:r>
              <a:rPr lang="en-US" sz="1700" dirty="0" err="1"/>
              <a:t>chamada</a:t>
            </a:r>
            <a:r>
              <a:rPr lang="en-US" sz="1700" dirty="0"/>
              <a:t> prompt. O </a:t>
            </a:r>
            <a:r>
              <a:rPr lang="en-US" sz="1700" dirty="0" err="1"/>
              <a:t>modelo</a:t>
            </a:r>
            <a:r>
              <a:rPr lang="en-US" sz="1700" dirty="0"/>
              <a:t> </a:t>
            </a:r>
            <a:r>
              <a:rPr lang="en-US" sz="1700" dirty="0" err="1"/>
              <a:t>retorna</a:t>
            </a:r>
            <a:r>
              <a:rPr lang="en-US" sz="1700" dirty="0"/>
              <a:t> imagens </a:t>
            </a:r>
            <a:r>
              <a:rPr lang="en-US" sz="1700" dirty="0" err="1"/>
              <a:t>geradas</a:t>
            </a:r>
            <a:r>
              <a:rPr lang="en-US" sz="1700" dirty="0"/>
              <a:t> com </a:t>
            </a:r>
            <a:r>
              <a:rPr lang="en-US" sz="1700" dirty="0" err="1"/>
              <a:t>alta</a:t>
            </a:r>
            <a:r>
              <a:rPr lang="en-US" sz="1700" dirty="0"/>
              <a:t> </a:t>
            </a:r>
            <a:r>
              <a:rPr lang="en-US" sz="1700" dirty="0" err="1"/>
              <a:t>qualidade</a:t>
            </a:r>
            <a:r>
              <a:rPr lang="en-US" sz="1700" dirty="0"/>
              <a:t> visual, </a:t>
            </a:r>
            <a:r>
              <a:rPr lang="en-US" sz="1700" dirty="0" err="1"/>
              <a:t>estilo</a:t>
            </a:r>
            <a:r>
              <a:rPr lang="en-US" sz="1700" dirty="0"/>
              <a:t> e </a:t>
            </a:r>
            <a:r>
              <a:rPr lang="en-US" sz="1700" dirty="0" err="1"/>
              <a:t>composição</a:t>
            </a:r>
            <a:r>
              <a:rPr lang="en-US" sz="1700" dirty="0"/>
              <a:t> </a:t>
            </a:r>
            <a:r>
              <a:rPr lang="en-US" sz="1700" dirty="0" err="1"/>
              <a:t>configuráveis</a:t>
            </a:r>
            <a:r>
              <a:rPr lang="en-US" sz="1700" dirty="0"/>
              <a:t>.</a:t>
            </a:r>
          </a:p>
          <a:p>
            <a:r>
              <a:rPr lang="en-US" sz="1700" b="1" dirty="0"/>
              <a:t>Caso de </a:t>
            </a:r>
            <a:r>
              <a:rPr lang="en-US" sz="1700" b="1" dirty="0" err="1"/>
              <a:t>uso</a:t>
            </a:r>
            <a:r>
              <a:rPr lang="en-US" sz="1700" b="1" dirty="0"/>
              <a:t> real </a:t>
            </a:r>
            <a:r>
              <a:rPr lang="en-US" sz="1700" b="1" dirty="0" err="1"/>
              <a:t>brasileiro</a:t>
            </a:r>
            <a:r>
              <a:rPr lang="en-US" sz="1700" b="1" dirty="0"/>
              <a:t>:</a:t>
            </a:r>
            <a:r>
              <a:rPr lang="en-US" sz="1700" dirty="0"/>
              <a:t> </a:t>
            </a:r>
            <a:r>
              <a:rPr lang="en-US" sz="1700" dirty="0" err="1"/>
              <a:t>Agências</a:t>
            </a:r>
            <a:r>
              <a:rPr lang="en-US" sz="1700" dirty="0"/>
              <a:t> de </a:t>
            </a:r>
            <a:r>
              <a:rPr lang="en-US" sz="1700" dirty="0" err="1"/>
              <a:t>publicidade</a:t>
            </a:r>
            <a:r>
              <a:rPr lang="en-US" sz="1700" dirty="0"/>
              <a:t> </a:t>
            </a:r>
            <a:r>
              <a:rPr lang="en-US" sz="1700" dirty="0" err="1"/>
              <a:t>brasileiras</a:t>
            </a:r>
            <a:r>
              <a:rPr lang="en-US" sz="1700" dirty="0"/>
              <a:t> </a:t>
            </a:r>
            <a:r>
              <a:rPr lang="en-US" sz="1700" dirty="0" err="1"/>
              <a:t>usam</a:t>
            </a:r>
            <a:r>
              <a:rPr lang="en-US" sz="1700" dirty="0"/>
              <a:t> o Midjourney para </a:t>
            </a:r>
            <a:r>
              <a:rPr lang="en-US" sz="1700" dirty="0" err="1"/>
              <a:t>criar</a:t>
            </a:r>
            <a:r>
              <a:rPr lang="en-US" sz="1700" dirty="0"/>
              <a:t> mockups e </a:t>
            </a:r>
            <a:r>
              <a:rPr lang="en-US" sz="1700" dirty="0" err="1"/>
              <a:t>conceitos</a:t>
            </a:r>
            <a:r>
              <a:rPr lang="en-US" sz="1700" dirty="0"/>
              <a:t> </a:t>
            </a:r>
            <a:r>
              <a:rPr lang="en-US" sz="1700" dirty="0" err="1"/>
              <a:t>visuais</a:t>
            </a:r>
            <a:r>
              <a:rPr lang="en-US" sz="1700" dirty="0"/>
              <a:t> de </a:t>
            </a:r>
            <a:r>
              <a:rPr lang="en-US" sz="1700" dirty="0" err="1"/>
              <a:t>campanhas</a:t>
            </a:r>
            <a:r>
              <a:rPr lang="en-US" sz="1700" dirty="0"/>
              <a:t> </a:t>
            </a:r>
            <a:r>
              <a:rPr lang="en-US" sz="1700" dirty="0" err="1"/>
              <a:t>em</a:t>
            </a:r>
            <a:r>
              <a:rPr lang="en-US" sz="1700" dirty="0"/>
              <a:t> horas, </a:t>
            </a:r>
            <a:r>
              <a:rPr lang="en-US" sz="1700" dirty="0" err="1"/>
              <a:t>reduzindo</a:t>
            </a:r>
            <a:r>
              <a:rPr lang="en-US" sz="1700" dirty="0"/>
              <a:t> </a:t>
            </a:r>
            <a:r>
              <a:rPr lang="en-US" sz="1700" dirty="0" err="1"/>
              <a:t>drasticamente</a:t>
            </a:r>
            <a:r>
              <a:rPr lang="en-US" sz="1700" dirty="0"/>
              <a:t> o </a:t>
            </a:r>
            <a:r>
              <a:rPr lang="en-US" sz="1700" dirty="0" err="1"/>
              <a:t>custo</a:t>
            </a:r>
            <a:r>
              <a:rPr lang="en-US" sz="1700" dirty="0"/>
              <a:t> e o tempo de </a:t>
            </a:r>
            <a:r>
              <a:rPr lang="en-US" sz="1700" dirty="0" err="1"/>
              <a:t>prototipação</a:t>
            </a:r>
            <a:r>
              <a:rPr lang="en-US" sz="1700" dirty="0"/>
              <a:t> antes de </a:t>
            </a:r>
            <a:r>
              <a:rPr lang="en-US" sz="1700" dirty="0" err="1"/>
              <a:t>envolver</a:t>
            </a:r>
            <a:r>
              <a:rPr lang="en-US" sz="1700" dirty="0"/>
              <a:t> um designer para o </a:t>
            </a:r>
            <a:r>
              <a:rPr lang="en-US" sz="1700" dirty="0" err="1"/>
              <a:t>produto</a:t>
            </a:r>
            <a:r>
              <a:rPr lang="en-US" sz="1700" dirty="0"/>
              <a:t> final.</a:t>
            </a:r>
          </a:p>
          <a:p>
            <a:r>
              <a:rPr lang="en-US" sz="1700" b="1" dirty="0"/>
              <a:t>Impacto no mercado:</a:t>
            </a:r>
            <a:r>
              <a:rPr lang="en-US" sz="1700" dirty="0"/>
              <a:t> </a:t>
            </a:r>
            <a:r>
              <a:rPr lang="en-US" sz="1700" dirty="0" err="1"/>
              <a:t>Afeta</a:t>
            </a:r>
            <a:r>
              <a:rPr lang="en-US" sz="1700" dirty="0"/>
              <a:t> designers </a:t>
            </a:r>
            <a:r>
              <a:rPr lang="en-US" sz="1700" dirty="0" err="1"/>
              <a:t>gráficos</a:t>
            </a:r>
            <a:r>
              <a:rPr lang="en-US" sz="1700" dirty="0"/>
              <a:t>, </a:t>
            </a:r>
            <a:r>
              <a:rPr lang="en-US" sz="1700" dirty="0" err="1"/>
              <a:t>ilustradores</a:t>
            </a:r>
            <a:r>
              <a:rPr lang="en-US" sz="1700" dirty="0"/>
              <a:t> e </a:t>
            </a:r>
            <a:r>
              <a:rPr lang="en-US" sz="1700" dirty="0" err="1"/>
              <a:t>fotógrafos</a:t>
            </a:r>
            <a:r>
              <a:rPr lang="en-US" sz="1700" dirty="0"/>
              <a:t> de stock. A </a:t>
            </a:r>
            <a:r>
              <a:rPr lang="en-US" sz="1700" dirty="0" err="1"/>
              <a:t>demanda</a:t>
            </a:r>
            <a:r>
              <a:rPr lang="en-US" sz="1700" dirty="0"/>
              <a:t> </a:t>
            </a:r>
            <a:r>
              <a:rPr lang="en-US" sz="1700" dirty="0" err="1"/>
              <a:t>por</a:t>
            </a:r>
            <a:r>
              <a:rPr lang="en-US" sz="1700" dirty="0"/>
              <a:t> </a:t>
            </a:r>
            <a:r>
              <a:rPr lang="en-US" sz="1700" dirty="0" err="1"/>
              <a:t>criação</a:t>
            </a:r>
            <a:r>
              <a:rPr lang="en-US" sz="1700" dirty="0"/>
              <a:t> visual </a:t>
            </a:r>
            <a:r>
              <a:rPr lang="en-US" sz="1700" dirty="0" err="1"/>
              <a:t>básica</a:t>
            </a:r>
            <a:r>
              <a:rPr lang="en-US" sz="1700" dirty="0"/>
              <a:t> </a:t>
            </a:r>
            <a:r>
              <a:rPr lang="en-US" sz="1700" dirty="0" err="1"/>
              <a:t>cai</a:t>
            </a:r>
            <a:r>
              <a:rPr lang="en-US" sz="1700" dirty="0"/>
              <a:t>, mas </a:t>
            </a:r>
            <a:r>
              <a:rPr lang="en-US" sz="1700" dirty="0" err="1"/>
              <a:t>cresce</a:t>
            </a:r>
            <a:r>
              <a:rPr lang="en-US" sz="1700" dirty="0"/>
              <a:t> a </a:t>
            </a:r>
            <a:r>
              <a:rPr lang="en-US" sz="1700" dirty="0" err="1"/>
              <a:t>demanda</a:t>
            </a:r>
            <a:r>
              <a:rPr lang="en-US" sz="1700" dirty="0"/>
              <a:t> </a:t>
            </a:r>
            <a:r>
              <a:rPr lang="en-US" sz="1700" dirty="0" err="1"/>
              <a:t>por</a:t>
            </a:r>
            <a:r>
              <a:rPr lang="en-US" sz="1700" dirty="0"/>
              <a:t> </a:t>
            </a:r>
            <a:r>
              <a:rPr lang="en-US" sz="1700" dirty="0" err="1"/>
              <a:t>profissionais</a:t>
            </a:r>
            <a:r>
              <a:rPr lang="en-US" sz="1700" dirty="0"/>
              <a:t> </a:t>
            </a:r>
            <a:r>
              <a:rPr lang="en-US" sz="1700" dirty="0" err="1"/>
              <a:t>que</a:t>
            </a:r>
            <a:r>
              <a:rPr lang="en-US" sz="1700" dirty="0"/>
              <a:t> </a:t>
            </a:r>
            <a:r>
              <a:rPr lang="en-US" sz="1700" dirty="0" err="1"/>
              <a:t>saibam</a:t>
            </a:r>
            <a:r>
              <a:rPr lang="en-US" sz="1700" dirty="0"/>
              <a:t> </a:t>
            </a:r>
            <a:r>
              <a:rPr lang="en-US" sz="1700" dirty="0" err="1"/>
              <a:t>dirigir</a:t>
            </a:r>
            <a:r>
              <a:rPr lang="en-US" sz="1700" dirty="0"/>
              <a:t>, </a:t>
            </a:r>
            <a:r>
              <a:rPr lang="en-US" sz="1700" dirty="0" err="1"/>
              <a:t>refinar</a:t>
            </a:r>
            <a:r>
              <a:rPr lang="en-US" sz="1700" dirty="0"/>
              <a:t> e </a:t>
            </a:r>
            <a:r>
              <a:rPr lang="en-US" sz="1700" dirty="0" err="1"/>
              <a:t>curar</a:t>
            </a:r>
            <a:r>
              <a:rPr lang="en-US" sz="1700" dirty="0"/>
              <a:t> outputs de IA </a:t>
            </a:r>
            <a:r>
              <a:rPr lang="en-US" sz="1700" dirty="0" err="1"/>
              <a:t>generativa</a:t>
            </a:r>
            <a:r>
              <a:rPr lang="en-US" sz="1700" dirty="0"/>
              <a:t> com senso </a:t>
            </a:r>
            <a:r>
              <a:rPr lang="en-US" sz="1700" dirty="0" err="1"/>
              <a:t>estético</a:t>
            </a:r>
            <a:r>
              <a:rPr lang="en-US" sz="1700" dirty="0"/>
              <a:t>.</a:t>
            </a:r>
          </a:p>
          <a:p>
            <a:endParaRPr lang="en-BR" sz="2000" dirty="0"/>
          </a:p>
        </p:txBody>
      </p:sp>
    </p:spTree>
    <p:extLst>
      <p:ext uri="{BB962C8B-B14F-4D97-AF65-F5344CB8AC3E}">
        <p14:creationId xmlns:p14="http://schemas.microsoft.com/office/powerpoint/2010/main" val="385105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F6C41B-88FC-ABE4-7814-8252DDE6C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BR" sz="4000" dirty="0">
                <a:solidFill>
                  <a:srgbClr val="FFFFFF"/>
                </a:solidFill>
              </a:rPr>
              <a:t>Seção C: Conceitos técnicos e fndamentais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22876-84CA-7C0F-C621-4E2D91B63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BR" sz="2000" dirty="0"/>
              <a:t>O que é um Token e por que importa?</a:t>
            </a:r>
          </a:p>
          <a:p>
            <a:pPr marL="0" indent="0">
              <a:buNone/>
            </a:pPr>
            <a:r>
              <a:rPr lang="en-BR" sz="1600" dirty="0"/>
              <a:t>O modelo não lê palavras, ele fragmenta essas palavras em Tokens. Por exepmlo a palavra ”programação” vira [program, ação]. </a:t>
            </a:r>
          </a:p>
          <a:p>
            <a:pPr marL="0" indent="0">
              <a:buNone/>
            </a:pPr>
            <a:r>
              <a:rPr lang="en-BR" sz="1600" dirty="0"/>
              <a:t>API de LLM cobra por Token, não por palava. Todo modelo tem um limite de processamento de Tokens, isso se chama janela de contexto ou Context Window. Se o texto ultrapassa a janela de cntexto, o modelo simplismente esquece o começo. </a:t>
            </a:r>
          </a:p>
          <a:p>
            <a:pPr marL="0" indent="0">
              <a:buNone/>
            </a:pPr>
            <a:endParaRPr lang="en-BR" sz="1600" dirty="0"/>
          </a:p>
        </p:txBody>
      </p:sp>
    </p:spTree>
    <p:extLst>
      <p:ext uri="{BB962C8B-B14F-4D97-AF65-F5344CB8AC3E}">
        <p14:creationId xmlns:p14="http://schemas.microsoft.com/office/powerpoint/2010/main" val="3516057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538830-5DBA-1790-E017-9F0D022DD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BR" sz="4000" dirty="0">
                <a:solidFill>
                  <a:srgbClr val="FFFFFF"/>
                </a:solidFill>
              </a:rPr>
              <a:t>Seção C: Conceitos técnicos e fundamentais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79983-6E9D-526D-5D19-CE244D5B5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BR" sz="2000" b="1" dirty="0"/>
              <a:t>O que são embeddings e para o que servem? </a:t>
            </a:r>
          </a:p>
          <a:p>
            <a:pPr marL="0" indent="0">
              <a:buNone/>
            </a:pPr>
            <a:r>
              <a:rPr lang="en-BR" sz="1600" dirty="0"/>
              <a:t>Embedding é a transformação de um texto em um vetor, uma lista de números. Textos com palavras parecidas geram vetores matematicamente próximo, mesmo usando palavras completamente diferentes. </a:t>
            </a:r>
          </a:p>
          <a:p>
            <a:pPr marL="0" indent="0">
              <a:buNone/>
            </a:pPr>
            <a:r>
              <a:rPr lang="en-BR" sz="1600" dirty="0"/>
              <a:t>Em resumo, busca semântica, sistemas de recomendação e detecção de documentos similares. </a:t>
            </a:r>
          </a:p>
          <a:p>
            <a:endParaRPr lang="en-BR" sz="1600" dirty="0"/>
          </a:p>
        </p:txBody>
      </p:sp>
    </p:spTree>
    <p:extLst>
      <p:ext uri="{BB962C8B-B14F-4D97-AF65-F5344CB8AC3E}">
        <p14:creationId xmlns:p14="http://schemas.microsoft.com/office/powerpoint/2010/main" val="2541938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5C3106-734B-66FB-CE2E-B1BEDAD30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BR" sz="4000" dirty="0">
                <a:solidFill>
                  <a:srgbClr val="FFFFFF"/>
                </a:solidFill>
              </a:rPr>
              <a:t>Seção C: Conceitos técnicos e fundamentais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5E942-F506-82C0-CE4B-7C23A25274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BR" sz="2000" b="1" dirty="0"/>
              <a:t>O que é similaridade cosseno? </a:t>
            </a:r>
          </a:p>
          <a:p>
            <a:pPr marL="0" indent="0">
              <a:buNone/>
            </a:pPr>
            <a:r>
              <a:rPr lang="en-BR" sz="1600" dirty="0"/>
              <a:t>Similaridade cosseno é uma forma de medir a similaridade de dois vetore, calculando o ângulo não a distância. </a:t>
            </a:r>
          </a:p>
          <a:p>
            <a:pPr marL="0" indent="0">
              <a:buNone/>
            </a:pPr>
            <a:r>
              <a:rPr lang="en-US" sz="1600" dirty="0"/>
              <a:t>P</a:t>
            </a:r>
            <a:r>
              <a:rPr lang="en-BR" sz="1600" dirty="0"/>
              <a:t>or exemplo:</a:t>
            </a:r>
          </a:p>
          <a:p>
            <a:pPr marL="0" indent="0">
              <a:buNone/>
            </a:pPr>
            <a:r>
              <a:rPr lang="en-BR" sz="1600" dirty="0"/>
              <a:t>Resultado 1.0 -&gt;textos idênticos em significados </a:t>
            </a:r>
          </a:p>
          <a:p>
            <a:pPr marL="0" indent="0">
              <a:buNone/>
            </a:pPr>
            <a:r>
              <a:rPr lang="en-BR" sz="1600" dirty="0"/>
              <a:t>Resultado 0.0 -&gt; textos sem nenhuma relação </a:t>
            </a:r>
          </a:p>
          <a:p>
            <a:pPr marL="0" indent="0">
              <a:buNone/>
            </a:pPr>
            <a:r>
              <a:rPr lang="en-BR" sz="1600" dirty="0"/>
              <a:t>Resultado -1.0 -&gt; textos opostos em significado </a:t>
            </a:r>
          </a:p>
          <a:p>
            <a:pPr marL="0" indent="0">
              <a:buNone/>
            </a:pPr>
            <a:endParaRPr lang="en-BR" sz="1600" dirty="0"/>
          </a:p>
          <a:p>
            <a:pPr marL="0" indent="0">
              <a:buNone/>
            </a:pPr>
            <a:r>
              <a:rPr lang="en-BR" sz="1600" dirty="0"/>
              <a:t>Dois textos podem ter tamanhos muito diferentes e mesmo assim falar sobre o mesmo assunto. Por isso é usado o ângulo e não a distância, porque o ângulo captura a direção do significado, independente do tamanho. </a:t>
            </a:r>
          </a:p>
        </p:txBody>
      </p:sp>
    </p:spTree>
    <p:extLst>
      <p:ext uri="{BB962C8B-B14F-4D97-AF65-F5344CB8AC3E}">
        <p14:creationId xmlns:p14="http://schemas.microsoft.com/office/powerpoint/2010/main" val="31692814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77C6D3-3B83-5B39-70FA-D34DFE95C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BR" sz="4000" dirty="0">
                <a:solidFill>
                  <a:srgbClr val="FFFFFF"/>
                </a:solidFill>
              </a:rPr>
              <a:t>Seção C: Conceitos técnicos e fundamentais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E5C27-8098-4301-6310-F90DB7C412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BR" sz="2000" b="1" dirty="0"/>
              <a:t>O que é temperatura em uma LLM? </a:t>
            </a:r>
          </a:p>
          <a:p>
            <a:r>
              <a:rPr lang="en-BR" sz="1600" dirty="0"/>
              <a:t>Quando um modelo vai escolher o próximo token, ele tem uma lista de candidatos com probabilidades. A temperatura controla o quão concentradas ou espalhadas essas probabilidades ficam antes de tomar uma decisão. </a:t>
            </a:r>
            <a:br>
              <a:rPr lang="en-BR" sz="1600" dirty="0"/>
            </a:br>
            <a:r>
              <a:rPr lang="en-BR" sz="1600" dirty="0"/>
              <a:t>Quando a temperatura é ajustada para 0.1, o modelo quase sempre escolhe o token mais provável, o que torna as respostas previsíveis e repetitivas. Bom para códigos e fatos. Já quando ajustamos a temperatura para 0.7, temos um equilíbrio entre a coerência e a criatividade, o que é padrão na maioria das LLMs. Temperatura 1.5 os tokens menos prováveis ganham chances, respostas criatívas porém muitas vezes incoerente.</a:t>
            </a:r>
          </a:p>
        </p:txBody>
      </p:sp>
    </p:spTree>
    <p:extLst>
      <p:ext uri="{BB962C8B-B14F-4D97-AF65-F5344CB8AC3E}">
        <p14:creationId xmlns:p14="http://schemas.microsoft.com/office/powerpoint/2010/main" val="41940037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9F86AA-67D3-6A2F-6FFC-66A30648B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BR" sz="4000" dirty="0">
                <a:solidFill>
                  <a:srgbClr val="FFFFFF"/>
                </a:solidFill>
              </a:rPr>
              <a:t>Seção C: Conceitos técnicos e fundamentais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5070C-BBFF-E27C-25FF-34936497D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BR" sz="2000" b="1" dirty="0"/>
              <a:t>O que é context window? </a:t>
            </a:r>
          </a:p>
          <a:p>
            <a:r>
              <a:rPr lang="en-BR" sz="1600" dirty="0"/>
              <a:t>Context window ou janela de contexto é o limite máximo de tokens que os modelos conseguem processar de uma vez, tanto o input quanto o output. Pense como a memória de trabalho de um modelo. Tudo que estea dentro da janela, o modelo ”lembra” e tudo que ficou for a o modelo simplismente esquece/não tem acesso. </a:t>
            </a:r>
            <a:br>
              <a:rPr lang="en-BR" sz="1600" dirty="0"/>
            </a:br>
            <a:r>
              <a:rPr lang="en-BR" sz="1600" dirty="0"/>
              <a:t>O GPT-4 tem 128 mil tokens, o Claude tem 200 mil tokens de janela de contexto, isso equivale a centenas de páginas de texto, por isso LLMs como o Claude conseguem analisar contratos e documentos extensos. </a:t>
            </a:r>
          </a:p>
        </p:txBody>
      </p:sp>
    </p:spTree>
    <p:extLst>
      <p:ext uri="{BB962C8B-B14F-4D97-AF65-F5344CB8AC3E}">
        <p14:creationId xmlns:p14="http://schemas.microsoft.com/office/powerpoint/2010/main" val="8799431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BB1AFF-7116-B2D7-9543-243A8A6E3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BR" sz="4000" dirty="0">
                <a:solidFill>
                  <a:srgbClr val="FFFFFF"/>
                </a:solidFill>
              </a:rPr>
              <a:t>Seção C: Conceitos técnicos e fundamentais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74126-A1B0-E490-024D-16AF4A74A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BR" sz="2000" b="1" dirty="0"/>
              <a:t>Como funciona o attention:</a:t>
            </a:r>
          </a:p>
          <a:p>
            <a:r>
              <a:rPr lang="en-BR" sz="1600" dirty="0"/>
              <a:t>Attentions é o sistema que permite que o modelo entenda contexto e ambiguidade. </a:t>
            </a:r>
          </a:p>
          <a:p>
            <a:r>
              <a:rPr lang="en-BR" sz="1600" dirty="0"/>
              <a:t>Quando Quando o modelo processa a palavra “Banco” na frase “o banco está perto do rio”, o attention analisa toas as outras palavras e percebe que “rio” está próximo, concluindo que “banco” é margem de rio e não instituição financeira. Sem ele o modelo trataria cada palavra separadamente, sem entender as relações entre elas. Com eo attention, cada token pode olhar para todos os outros e decidir quais são relevantes para o seu significado naquele contexto específico. </a:t>
            </a:r>
          </a:p>
          <a:p>
            <a:pPr marL="0" indent="0">
              <a:buNone/>
            </a:pPr>
            <a:endParaRPr lang="en-BR" sz="1600" dirty="0"/>
          </a:p>
        </p:txBody>
      </p:sp>
    </p:spTree>
    <p:extLst>
      <p:ext uri="{BB962C8B-B14F-4D97-AF65-F5344CB8AC3E}">
        <p14:creationId xmlns:p14="http://schemas.microsoft.com/office/powerpoint/2010/main" val="37917492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9DFA32-50BD-B918-41A5-2ADB4CEA4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r>
              <a:rPr lang="en-BR" sz="4000" dirty="0">
                <a:solidFill>
                  <a:srgbClr val="FFFFFF"/>
                </a:solidFill>
              </a:rPr>
              <a:t>Seção C: Conceitos técnicos e fundamentais (Bônus)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7B51C-0F62-BC4A-93A6-8728E6B36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BR" sz="1600" b="1" dirty="0"/>
              <a:t>Encoder-olny: </a:t>
            </a:r>
            <a:r>
              <a:rPr lang="en-BR" sz="1600" dirty="0"/>
              <a:t>lê o texto todo de uma vez, nos dois sentidos. Ideal para entender e classificar texto. Não gera texto novo. </a:t>
            </a:r>
          </a:p>
          <a:p>
            <a:r>
              <a:rPr lang="en-BR" sz="1600" b="1" dirty="0"/>
              <a:t>Decoder-only: </a:t>
            </a:r>
            <a:r>
              <a:rPr lang="en-BR" sz="1600" dirty="0"/>
              <a:t>lê da esquerda para a direita e prevê o próximo token. É a arquitetura usada em todas as LLMs modernas de geração de texto. </a:t>
            </a:r>
          </a:p>
          <a:p>
            <a:r>
              <a:rPr lang="en-BR" sz="1600" b="1" dirty="0"/>
              <a:t>Encoder-only: </a:t>
            </a:r>
            <a:r>
              <a:rPr lang="en-BR" sz="1600" dirty="0"/>
              <a:t>o encoder entende o input e o decoder gera o output. Ideal para tradução. </a:t>
            </a:r>
            <a:endParaRPr lang="en-BR" sz="1600" b="1" dirty="0"/>
          </a:p>
        </p:txBody>
      </p:sp>
    </p:spTree>
    <p:extLst>
      <p:ext uri="{BB962C8B-B14F-4D97-AF65-F5344CB8AC3E}">
        <p14:creationId xmlns:p14="http://schemas.microsoft.com/office/powerpoint/2010/main" val="20102270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7D8511-2439-E6B0-3CEE-11B106502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r>
              <a:rPr lang="en-BR" sz="4000" dirty="0">
                <a:solidFill>
                  <a:srgbClr val="FFFFFF"/>
                </a:solidFill>
              </a:rPr>
              <a:t>Seção C: Conceitos técnicos e fundamentais (bônus)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2B57A-9B85-61A6-E180-687E54907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endParaRPr lang="en-BR" sz="2000"/>
          </a:p>
        </p:txBody>
      </p:sp>
    </p:spTree>
    <p:extLst>
      <p:ext uri="{BB962C8B-B14F-4D97-AF65-F5344CB8AC3E}">
        <p14:creationId xmlns:p14="http://schemas.microsoft.com/office/powerpoint/2010/main" val="3583319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1315</Words>
  <Application>Microsoft Macintosh PowerPoint</Application>
  <PresentationFormat>Widescreen</PresentationFormat>
  <Paragraphs>57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Checkpoint 1 </vt:lpstr>
      <vt:lpstr>Seção A: Mapa mental </vt:lpstr>
      <vt:lpstr>Seção B: Análise de 3 ferramentas de IA  1º:  Claude</vt:lpstr>
      <vt:lpstr>Seção B:  Análise de 3 ferramentas de IA  2º: Cursor</vt:lpstr>
      <vt:lpstr>Seção B:  Anlálise de 3 ferramentas de IA  3º: Midjourney</vt:lpstr>
      <vt:lpstr>Seção C: Conceitos técnicos e fndamentais</vt:lpstr>
      <vt:lpstr>Seção C: Conceitos técnicos e fundamentais</vt:lpstr>
      <vt:lpstr>Seção C: Conceitos técnicos e fundamentais </vt:lpstr>
      <vt:lpstr>Seção C: Conceitos técnicos e fundamentais</vt:lpstr>
      <vt:lpstr>Seção C: Conceitos técnicos e fundamentais </vt:lpstr>
      <vt:lpstr>Seção C: Conceitos técnicos e fundamentais</vt:lpstr>
      <vt:lpstr>Seção C: Conceitos técnicos e fundamentais (Bônus) </vt:lpstr>
      <vt:lpstr>Seção C: Conceitos técnicos e fundamentais (bônus)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 do Prado Manzini</dc:creator>
  <cp:lastModifiedBy>Victor do Prado Manzini</cp:lastModifiedBy>
  <cp:revision>2</cp:revision>
  <dcterms:created xsi:type="dcterms:W3CDTF">2026-04-02T19:02:51Z</dcterms:created>
  <dcterms:modified xsi:type="dcterms:W3CDTF">2026-04-06T00:04:33Z</dcterms:modified>
</cp:coreProperties>
</file>